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7706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991B1B"/>
                </a:solidFill>
              </a:rPr>
              <a:t>דפיברילטור בשטח — Pro Bono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74151"/>
                </a:solidFill>
              </a:rPr>
              <a:t>פרויקט סיום — פיתוח WEB | אפקה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 </a:t>
            </a:r>
            <a:r>
              <a:rPr lang="en-US" sz="1400" b="1" u="sng" dirty="0" err="1">
                <a:solidFill>
                  <a:srgbClr val="111827"/>
                </a:solidFill>
              </a:rPr>
              <a:t>שמות</a:t>
            </a:r>
            <a:r>
              <a:rPr lang="en-US" sz="1400" b="1" u="sng" dirty="0">
                <a:solidFill>
                  <a:srgbClr val="111827"/>
                </a:solidFill>
              </a:rPr>
              <a:t> </a:t>
            </a:r>
            <a:r>
              <a:rPr lang="en-US" sz="1400" b="1" u="sng" dirty="0" err="1">
                <a:solidFill>
                  <a:srgbClr val="111827"/>
                </a:solidFill>
              </a:rPr>
              <a:t>המבצעים</a:t>
            </a:r>
            <a:r>
              <a:rPr lang="he-IL" sz="1400" b="1" u="sng" dirty="0">
                <a:solidFill>
                  <a:srgbClr val="111827"/>
                </a:solidFill>
              </a:rPr>
              <a:t>:</a:t>
            </a:r>
            <a:r>
              <a:rPr lang="he-IL" sz="1400" dirty="0">
                <a:solidFill>
                  <a:srgbClr val="111827"/>
                </a:solidFill>
              </a:rPr>
              <a:t> </a:t>
            </a:r>
            <a:r>
              <a:rPr lang="en-US" sz="1400" dirty="0" err="1">
                <a:solidFill>
                  <a:srgbClr val="111827"/>
                </a:solidFill>
              </a:rPr>
              <a:t>עדן</a:t>
            </a:r>
            <a:r>
              <a:rPr lang="en-US" sz="1400" dirty="0">
                <a:solidFill>
                  <a:srgbClr val="111827"/>
                </a:solidFill>
              </a:rPr>
              <a:t> </a:t>
            </a:r>
            <a:r>
              <a:rPr lang="en-US" sz="1400" dirty="0" err="1">
                <a:solidFill>
                  <a:srgbClr val="111827"/>
                </a:solidFill>
              </a:rPr>
              <a:t>גלזמן</a:t>
            </a:r>
            <a:r>
              <a:rPr lang="he-IL" sz="1400" dirty="0">
                <a:solidFill>
                  <a:srgbClr val="111827"/>
                </a:solidFill>
              </a:rPr>
              <a:t> ולין סבאג.</a:t>
            </a:r>
            <a:endParaRPr lang="en-US" sz="14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u="sng" dirty="0">
                <a:solidFill>
                  <a:srgbClr val="111827"/>
                </a:solidFill>
              </a:rPr>
              <a:t>GitHub(Eden):</a:t>
            </a:r>
            <a:r>
              <a:rPr lang="en-US" sz="1400" b="1" dirty="0">
                <a:solidFill>
                  <a:srgbClr val="111827"/>
                </a:solidFill>
              </a:rPr>
              <a:t> </a:t>
            </a:r>
            <a:r>
              <a:rPr lang="en-US" sz="1400" dirty="0">
                <a:solidFill>
                  <a:srgbClr val="111827"/>
                </a:solidFill>
              </a:rPr>
              <a:t>github.com/edenglaz/defibrillator-field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u="sng" dirty="0">
                <a:solidFill>
                  <a:srgbClr val="111827"/>
                </a:solidFill>
              </a:rPr>
              <a:t>GitHub(Lin):</a:t>
            </a:r>
            <a:r>
              <a:rPr lang="en-US" sz="1400" b="1" dirty="0">
                <a:solidFill>
                  <a:srgbClr val="111827"/>
                </a:solidFill>
              </a:rPr>
              <a:t> </a:t>
            </a:r>
            <a:r>
              <a:rPr lang="en-US" sz="1400" dirty="0">
                <a:solidFill>
                  <a:srgbClr val="111827"/>
                </a:solidFill>
              </a:rPr>
              <a:t>https://github.com/linsabag/defibrillator-field</a:t>
            </a:r>
            <a:endParaRPr lang="en-US" sz="14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u="sng" dirty="0">
                <a:solidFill>
                  <a:srgbClr val="111827"/>
                </a:solidFill>
              </a:rPr>
              <a:t>Cloud:</a:t>
            </a:r>
            <a:r>
              <a:rPr lang="en-US" sz="1400" b="1" dirty="0">
                <a:solidFill>
                  <a:srgbClr val="111827"/>
                </a:solidFill>
              </a:rPr>
              <a:t> </a:t>
            </a:r>
            <a:r>
              <a:rPr lang="en-US" sz="1400" dirty="0">
                <a:solidFill>
                  <a:srgbClr val="111827"/>
                </a:solidFill>
              </a:rPr>
              <a:t>defibrillator-</a:t>
            </a:r>
            <a:r>
              <a:rPr lang="en-US" sz="1400" dirty="0" err="1">
                <a:solidFill>
                  <a:srgbClr val="111827"/>
                </a:solidFill>
              </a:rPr>
              <a:t>field.vercel.app</a:t>
            </a:r>
            <a:endParaRPr lang="en-US" sz="14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 </a:t>
            </a:r>
            <a:r>
              <a:rPr lang="en-US" sz="1400" b="1" u="sng" dirty="0">
                <a:solidFill>
                  <a:srgbClr val="111827"/>
                </a:solidFill>
              </a:rPr>
              <a:t>API Simulator: </a:t>
            </a:r>
            <a:r>
              <a:rPr lang="en-US" sz="1400" dirty="0">
                <a:solidFill>
                  <a:srgbClr val="111827"/>
                </a:solidFill>
              </a:rPr>
              <a:t>defibrillator-field.onrender.com</a:t>
            </a:r>
            <a:endParaRPr lang="en-US" sz="14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u="sng" dirty="0">
                <a:solidFill>
                  <a:srgbClr val="111827"/>
                </a:solidFill>
              </a:rPr>
              <a:t>API Auth: </a:t>
            </a:r>
            <a:r>
              <a:rPr lang="en-US" sz="1400" dirty="0">
                <a:solidFill>
                  <a:srgbClr val="111827"/>
                </a:solidFill>
              </a:rPr>
              <a:t>defi-auth.onrender.com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3526" y="351692"/>
            <a:ext cx="421327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he-IL" sz="2800" b="1" dirty="0">
                <a:solidFill>
                  <a:srgbClr val="991B1B"/>
                </a:solidFill>
              </a:rPr>
              <a:t>ב</a:t>
            </a:r>
            <a:r>
              <a:rPr lang="en-US" sz="2800" b="1" dirty="0" err="1">
                <a:solidFill>
                  <a:srgbClr val="991B1B"/>
                </a:solidFill>
              </a:rPr>
              <a:t>עיות</a:t>
            </a:r>
            <a:r>
              <a:rPr lang="en-US" sz="2800" b="1" dirty="0">
                <a:solidFill>
                  <a:srgbClr val="991B1B"/>
                </a:solidFill>
              </a:rPr>
              <a:t> </a:t>
            </a:r>
            <a:r>
              <a:rPr lang="en-US" sz="2800" b="1" dirty="0" err="1">
                <a:solidFill>
                  <a:srgbClr val="991B1B"/>
                </a:solidFill>
              </a:rPr>
              <a:t>ידועות</a:t>
            </a:r>
            <a:r>
              <a:rPr lang="he-IL" sz="2800" b="1" dirty="0">
                <a:solidFill>
                  <a:srgbClr val="991B1B"/>
                </a:solidFill>
              </a:rPr>
              <a:t> /</a:t>
            </a:r>
            <a:r>
              <a:rPr lang="en-US" sz="2800" b="1" dirty="0">
                <a:solidFill>
                  <a:srgbClr val="991B1B"/>
                </a:solidFill>
              </a:rPr>
              <a:t>Known Bugs 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111827"/>
                </a:solidFill>
              </a:rPr>
              <a:t>מגבלות</a:t>
            </a:r>
            <a:r>
              <a:rPr lang="en-US" sz="1400" b="1" dirty="0">
                <a:solidFill>
                  <a:srgbClr val="111827"/>
                </a:solidFill>
              </a:rPr>
              <a:t> </a:t>
            </a:r>
            <a:r>
              <a:rPr lang="en-US" sz="1400" b="1" dirty="0" err="1">
                <a:solidFill>
                  <a:srgbClr val="111827"/>
                </a:solidFill>
              </a:rPr>
              <a:t>מכוונות</a:t>
            </a:r>
            <a:r>
              <a:rPr lang="en-US" sz="1400" b="1" dirty="0">
                <a:solidFill>
                  <a:srgbClr val="111827"/>
                </a:solidFill>
              </a:rPr>
              <a:t> </a:t>
            </a:r>
            <a:r>
              <a:rPr lang="he-IL" sz="1400" b="1" dirty="0">
                <a:solidFill>
                  <a:srgbClr val="111827"/>
                </a:solidFill>
              </a:rPr>
              <a:t>(סימולטור </a:t>
            </a:r>
            <a:r>
              <a:rPr lang="en-US" sz="1400" b="1" dirty="0">
                <a:solidFill>
                  <a:srgbClr val="111827"/>
                </a:solidFill>
              </a:rPr>
              <a:t>WEB</a:t>
            </a:r>
            <a:r>
              <a:rPr lang="he-IL" sz="1400" b="1" dirty="0">
                <a:solidFill>
                  <a:srgbClr val="111827"/>
                </a:solidFill>
              </a:rPr>
              <a:t>) - </a:t>
            </a:r>
            <a:r>
              <a:rPr lang="en-US" sz="1400" dirty="0">
                <a:solidFill>
                  <a:srgbClr val="111827"/>
                </a:solidFill>
              </a:rPr>
              <a:t>Push / SMS / LoRa</a:t>
            </a:r>
            <a:r>
              <a:rPr lang="he-IL" sz="1400" dirty="0">
                <a:solidFill>
                  <a:srgbClr val="111827"/>
                </a:solidFill>
              </a:rPr>
              <a:t> מדומים, אין חומרה.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11827"/>
                </a:solidFill>
              </a:rPr>
              <a:t> Bluetooth/</a:t>
            </a:r>
            <a:r>
              <a:rPr lang="en-US" sz="1400" b="1" dirty="0" err="1">
                <a:solidFill>
                  <a:srgbClr val="111827"/>
                </a:solidFill>
              </a:rPr>
              <a:t>Meshtastic</a:t>
            </a:r>
            <a:r>
              <a:rPr lang="he-IL" sz="1400" b="1" dirty="0">
                <a:solidFill>
                  <a:srgbClr val="111827"/>
                </a:solidFill>
              </a:rPr>
              <a:t>- </a:t>
            </a:r>
            <a:r>
              <a:rPr lang="he-IL" sz="1400" dirty="0">
                <a:solidFill>
                  <a:srgbClr val="111827"/>
                </a:solidFill>
              </a:rPr>
              <a:t>סימולציה, לא </a:t>
            </a:r>
            <a:r>
              <a:rPr lang="en-US" sz="1400" dirty="0">
                <a:solidFill>
                  <a:srgbClr val="111827"/>
                </a:solidFill>
              </a:rPr>
              <a:t>BLE</a:t>
            </a:r>
            <a:r>
              <a:rPr lang="he-IL" sz="1400" dirty="0">
                <a:solidFill>
                  <a:srgbClr val="111827"/>
                </a:solidFill>
              </a:rPr>
              <a:t> אמיתי.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111827"/>
                </a:solidFill>
              </a:rPr>
              <a:t>מפות </a:t>
            </a:r>
            <a:r>
              <a:rPr lang="en-US" sz="1400" b="1" dirty="0">
                <a:solidFill>
                  <a:srgbClr val="111827"/>
                </a:solidFill>
              </a:rPr>
              <a:t>Offline</a:t>
            </a:r>
            <a:r>
              <a:rPr lang="he-IL" sz="1400" b="1" dirty="0">
                <a:solidFill>
                  <a:srgbClr val="111827"/>
                </a:solidFill>
              </a:rPr>
              <a:t> – </a:t>
            </a:r>
            <a:r>
              <a:rPr lang="he-IL" sz="1400" dirty="0">
                <a:solidFill>
                  <a:srgbClr val="111827"/>
                </a:solidFill>
              </a:rPr>
              <a:t>שכבת </a:t>
            </a:r>
            <a:r>
              <a:rPr lang="en-US" sz="1400" dirty="0">
                <a:solidFill>
                  <a:srgbClr val="111827"/>
                </a:solidFill>
              </a:rPr>
              <a:t>Cache</a:t>
            </a:r>
            <a:r>
              <a:rPr lang="he-IL" sz="1400" dirty="0">
                <a:solidFill>
                  <a:srgbClr val="111827"/>
                </a:solidFill>
              </a:rPr>
              <a:t>, לא </a:t>
            </a:r>
            <a:r>
              <a:rPr lang="en-US" sz="1400" dirty="0">
                <a:solidFill>
                  <a:srgbClr val="111827"/>
                </a:solidFill>
              </a:rPr>
              <a:t>PWA</a:t>
            </a:r>
            <a:r>
              <a:rPr lang="he-IL" sz="1400" dirty="0">
                <a:solidFill>
                  <a:srgbClr val="111827"/>
                </a:solidFill>
              </a:rPr>
              <a:t>.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11827"/>
                </a:solidFill>
              </a:rPr>
              <a:t>OSRM</a:t>
            </a:r>
            <a:r>
              <a:rPr lang="he-IL" sz="1400" b="1" dirty="0">
                <a:solidFill>
                  <a:srgbClr val="111827"/>
                </a:solidFill>
              </a:rPr>
              <a:t> – </a:t>
            </a:r>
            <a:r>
              <a:rPr lang="en-US" sz="1400" dirty="0">
                <a:solidFill>
                  <a:srgbClr val="111827"/>
                </a:solidFill>
              </a:rPr>
              <a:t>Breadcrumbs</a:t>
            </a:r>
            <a:r>
              <a:rPr lang="he-IL" sz="1400" dirty="0">
                <a:solidFill>
                  <a:srgbClr val="111827"/>
                </a:solidFill>
              </a:rPr>
              <a:t> אופניים, לא </a:t>
            </a:r>
            <a:r>
              <a:rPr lang="en-US" sz="1400" dirty="0">
                <a:solidFill>
                  <a:srgbClr val="111827"/>
                </a:solidFill>
              </a:rPr>
              <a:t>API</a:t>
            </a:r>
            <a:r>
              <a:rPr lang="he-IL" sz="1400" dirty="0">
                <a:solidFill>
                  <a:srgbClr val="111827"/>
                </a:solidFill>
              </a:rPr>
              <a:t> עמי ותמי.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11827"/>
                </a:solidFill>
              </a:rPr>
              <a:t>Render Free</a:t>
            </a:r>
            <a:r>
              <a:rPr lang="he-IL" sz="1400" b="1" dirty="0">
                <a:solidFill>
                  <a:srgbClr val="111827"/>
                </a:solidFill>
              </a:rPr>
              <a:t> – </a:t>
            </a:r>
            <a:r>
              <a:rPr lang="he-IL" sz="1400" dirty="0">
                <a:solidFill>
                  <a:srgbClr val="111827"/>
                </a:solidFill>
              </a:rPr>
              <a:t>השרת נרדם, טעינה ראשונה בערך 50-30 שנ’.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11827"/>
                </a:solidFill>
              </a:rPr>
              <a:t>OSRM</a:t>
            </a:r>
            <a:r>
              <a:rPr lang="he-IL" sz="1400" b="1" dirty="0">
                <a:solidFill>
                  <a:srgbClr val="111827"/>
                </a:solidFill>
              </a:rPr>
              <a:t> – </a:t>
            </a:r>
            <a:r>
              <a:rPr lang="he-IL" sz="1400" dirty="0">
                <a:solidFill>
                  <a:srgbClr val="111827"/>
                </a:solidFill>
              </a:rPr>
              <a:t>לפעמים </a:t>
            </a:r>
            <a:r>
              <a:rPr lang="en-US" sz="1400" dirty="0">
                <a:solidFill>
                  <a:srgbClr val="111827"/>
                </a:solidFill>
              </a:rPr>
              <a:t>fallback</a:t>
            </a:r>
            <a:r>
              <a:rPr lang="he-IL" sz="1400" dirty="0">
                <a:solidFill>
                  <a:srgbClr val="111827"/>
                </a:solidFill>
              </a:rPr>
              <a:t> לקו ישר.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11827"/>
                </a:solidFill>
              </a:rPr>
              <a:t>/volunteer</a:t>
            </a:r>
            <a:r>
              <a:rPr lang="he-IL" sz="1400" b="1" dirty="0">
                <a:solidFill>
                  <a:srgbClr val="111827"/>
                </a:solidFill>
              </a:rPr>
              <a:t> – </a:t>
            </a:r>
            <a:r>
              <a:rPr lang="he-IL" sz="1400" dirty="0">
                <a:solidFill>
                  <a:srgbClr val="111827"/>
                </a:solidFill>
              </a:rPr>
              <a:t>לפעמים דורש שני טאבים או רענון.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11827"/>
                </a:solidFill>
              </a:rPr>
              <a:t>SQLite</a:t>
            </a:r>
            <a:r>
              <a:rPr lang="he-IL" sz="1400" b="1" dirty="0">
                <a:solidFill>
                  <a:srgbClr val="111827"/>
                </a:solidFill>
              </a:rPr>
              <a:t> על </a:t>
            </a:r>
            <a:r>
              <a:rPr lang="en-US" sz="1400" b="1" dirty="0">
                <a:solidFill>
                  <a:srgbClr val="111827"/>
                </a:solidFill>
              </a:rPr>
              <a:t>CMS</a:t>
            </a:r>
            <a:r>
              <a:rPr lang="he-IL" sz="1400" b="1" dirty="0">
                <a:solidFill>
                  <a:srgbClr val="111827"/>
                </a:solidFill>
              </a:rPr>
              <a:t> – </a:t>
            </a:r>
            <a:r>
              <a:rPr lang="en-US" sz="1400" dirty="0">
                <a:solidFill>
                  <a:srgbClr val="111827"/>
                </a:solidFill>
              </a:rPr>
              <a:t>Render</a:t>
            </a:r>
            <a:r>
              <a:rPr lang="he-IL" sz="1400" dirty="0">
                <a:solidFill>
                  <a:srgbClr val="111827"/>
                </a:solidFill>
              </a:rPr>
              <a:t> עלול להתאפס ב- </a:t>
            </a:r>
            <a:r>
              <a:rPr lang="en-US" sz="1400" dirty="0">
                <a:solidFill>
                  <a:srgbClr val="111827"/>
                </a:solidFill>
              </a:rPr>
              <a:t>deploy</a:t>
            </a:r>
            <a:r>
              <a:rPr lang="he-IL" sz="1400" dirty="0">
                <a:solidFill>
                  <a:srgbClr val="111827"/>
                </a:solidFill>
              </a:rPr>
              <a:t>.</a:t>
            </a:r>
          </a:p>
          <a:p>
            <a:pPr algn="r" rtl="1">
              <a:lnSpc>
                <a:spcPct val="150000"/>
              </a:lnSpc>
            </a:pPr>
            <a:endParaRPr lang="he-IL" sz="1400" dirty="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 err="1">
                <a:solidFill>
                  <a:srgbClr val="991B1B"/>
                </a:solidFill>
              </a:rPr>
              <a:t>מבנה</a:t>
            </a:r>
            <a:r>
              <a:rPr lang="en-US" sz="2800" b="1" dirty="0">
                <a:solidFill>
                  <a:srgbClr val="991B1B"/>
                </a:solidFill>
              </a:rPr>
              <a:t> </a:t>
            </a:r>
            <a:r>
              <a:rPr lang="en-US" sz="2800" b="1" dirty="0" err="1">
                <a:solidFill>
                  <a:srgbClr val="991B1B"/>
                </a:solidFill>
              </a:rPr>
              <a:t>ארכיטקטוני</a:t>
            </a:r>
            <a:r>
              <a:rPr lang="he-IL" sz="2800" b="1" dirty="0">
                <a:solidFill>
                  <a:srgbClr val="991B1B"/>
                </a:solidFill>
              </a:rPr>
              <a:t> של הפרויקט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79"/>
            <a:ext cx="8229600" cy="17654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 </a:t>
            </a:r>
            <a:r>
              <a:rPr lang="en-US" sz="1400" b="1" dirty="0">
                <a:solidFill>
                  <a:srgbClr val="111827"/>
                </a:solidFill>
              </a:rPr>
              <a:t>Frontend: </a:t>
            </a:r>
            <a:r>
              <a:rPr lang="en-US" sz="1400" dirty="0">
                <a:solidFill>
                  <a:srgbClr val="111827"/>
                </a:solidFill>
              </a:rPr>
              <a:t>Next.js 14 + Tailwind </a:t>
            </a:r>
            <a:r>
              <a:rPr lang="he-IL" sz="1400" dirty="0">
                <a:solidFill>
                  <a:srgbClr val="111827"/>
                </a:solidFill>
              </a:rPr>
              <a:t> ע</a:t>
            </a:r>
            <a:r>
              <a:rPr lang="en-US" sz="1400" dirty="0">
                <a:solidFill>
                  <a:srgbClr val="111827"/>
                </a:solidFill>
              </a:rPr>
              <a:t>ל </a:t>
            </a:r>
            <a:r>
              <a:rPr lang="en-US" sz="1400" dirty="0" err="1">
                <a:solidFill>
                  <a:srgbClr val="111827"/>
                </a:solidFill>
              </a:rPr>
              <a:t>Vercel</a:t>
            </a:r>
            <a:r>
              <a:rPr lang="en-US" sz="1400" dirty="0">
                <a:solidFill>
                  <a:srgbClr val="111827"/>
                </a:solidFill>
              </a:rPr>
              <a:t> (עברית, RTL)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 </a:t>
            </a:r>
            <a:r>
              <a:rPr lang="en-US" sz="1400" b="1" dirty="0">
                <a:solidFill>
                  <a:srgbClr val="111827"/>
                </a:solidFill>
              </a:rPr>
              <a:t>Server 1: </a:t>
            </a:r>
            <a:r>
              <a:rPr lang="en-US" sz="1400" dirty="0">
                <a:solidFill>
                  <a:srgbClr val="111827"/>
                </a:solidFill>
              </a:rPr>
              <a:t>Express + JWT + SQLite — Auth, CMS (Render)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 </a:t>
            </a:r>
            <a:r>
              <a:rPr lang="en-US" sz="1400" b="1" dirty="0">
                <a:solidFill>
                  <a:srgbClr val="111827"/>
                </a:solidFill>
              </a:rPr>
              <a:t>Server 2: </a:t>
            </a:r>
            <a:r>
              <a:rPr lang="en-US" sz="1400" dirty="0">
                <a:solidFill>
                  <a:srgbClr val="111827"/>
                </a:solidFill>
              </a:rPr>
              <a:t>Express + MongoDB — Fleet, סימולטור (Render)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 </a:t>
            </a:r>
            <a:r>
              <a:rPr lang="en-US" sz="1400" b="1" dirty="0">
                <a:solidFill>
                  <a:srgbClr val="111827"/>
                </a:solidFill>
              </a:rPr>
              <a:t>E2E: </a:t>
            </a:r>
            <a:r>
              <a:rPr lang="en-US" sz="1400" dirty="0">
                <a:solidFill>
                  <a:srgbClr val="111827"/>
                </a:solidFill>
              </a:rPr>
              <a:t>זיהוי → Geohash → Geo-fencing → Hybrid Alert → OSRM → מוקד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</a:t>
            </a:r>
            <a:r>
              <a:rPr lang="en-US" sz="1400" b="1" dirty="0">
                <a:solidFill>
                  <a:srgbClr val="111827"/>
                </a:solidFill>
              </a:rPr>
              <a:t> טכנולוגיות: </a:t>
            </a:r>
            <a:r>
              <a:rPr lang="en-US" sz="1400" dirty="0">
                <a:solidFill>
                  <a:srgbClr val="111827"/>
                </a:solidFill>
              </a:rPr>
              <a:t>TypeScript, Leaflet, Geohash, OSRM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446585"/>
            <a:ext cx="8229600" cy="1097280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 (Next.js)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├─► Server 1 (JWT + SQLite) — defi-auth.onrender.com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└─► Server 2 (MongoDB) — defibrillator-field.onrender.com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 err="1">
                <a:solidFill>
                  <a:srgbClr val="991B1B"/>
                </a:solidFill>
              </a:rPr>
              <a:t>קטע</a:t>
            </a:r>
            <a:r>
              <a:rPr lang="en-US" sz="2800" b="1" dirty="0">
                <a:solidFill>
                  <a:srgbClr val="991B1B"/>
                </a:solidFill>
              </a:rPr>
              <a:t> </a:t>
            </a:r>
            <a:r>
              <a:rPr lang="en-US" sz="2800" b="1" dirty="0" err="1">
                <a:solidFill>
                  <a:srgbClr val="991B1B"/>
                </a:solidFill>
              </a:rPr>
              <a:t>קוד</a:t>
            </a:r>
            <a:r>
              <a:rPr lang="he-IL" sz="2800" b="1" dirty="0">
                <a:solidFill>
                  <a:srgbClr val="991B1B"/>
                </a:solidFill>
              </a:rPr>
              <a:t> - </a:t>
            </a:r>
            <a:r>
              <a:rPr lang="en-US" sz="2800" b="1" dirty="0">
                <a:solidFill>
                  <a:srgbClr val="991B1B"/>
                </a:solidFill>
              </a:rPr>
              <a:t> Geohash + Geo-fencing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500468" y="914400"/>
            <a:ext cx="31863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74151"/>
                </a:solidFill>
              </a:rPr>
              <a:t>simulator-server/utils/geohash.js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111827"/>
                </a:solidFill>
              </a:rPr>
              <a:t>סינון</a:t>
            </a:r>
            <a:r>
              <a:rPr lang="en-US" sz="1400" b="1" dirty="0">
                <a:solidFill>
                  <a:srgbClr val="111827"/>
                </a:solidFill>
              </a:rPr>
              <a:t> </a:t>
            </a:r>
            <a:r>
              <a:rPr lang="en-US" sz="1400" b="1" dirty="0" err="1">
                <a:solidFill>
                  <a:srgbClr val="111827"/>
                </a:solidFill>
              </a:rPr>
              <a:t>מכשירים</a:t>
            </a:r>
            <a:r>
              <a:rPr lang="en-US" sz="1400" b="1" dirty="0">
                <a:solidFill>
                  <a:srgbClr val="111827"/>
                </a:solidFill>
              </a:rPr>
              <a:t> </a:t>
            </a:r>
            <a:r>
              <a:rPr lang="en-US" sz="1400" b="1" dirty="0" err="1">
                <a:solidFill>
                  <a:srgbClr val="111827"/>
                </a:solidFill>
              </a:rPr>
              <a:t>ברדיוס</a:t>
            </a:r>
            <a:r>
              <a:rPr lang="en-US" sz="1400" dirty="0">
                <a:solidFill>
                  <a:srgbClr val="111827"/>
                </a:solidFill>
              </a:rPr>
              <a:t>— </a:t>
            </a:r>
            <a:r>
              <a:rPr lang="he-IL" sz="1400" dirty="0">
                <a:solidFill>
                  <a:srgbClr val="111827"/>
                </a:solidFill>
              </a:rPr>
              <a:t> </a:t>
            </a:r>
            <a:r>
              <a:rPr lang="en-US" sz="1400" dirty="0" err="1">
                <a:solidFill>
                  <a:srgbClr val="111827"/>
                </a:solidFill>
              </a:rPr>
              <a:t>קודם</a:t>
            </a:r>
            <a:r>
              <a:rPr lang="en-US" sz="1400" dirty="0">
                <a:solidFill>
                  <a:srgbClr val="111827"/>
                </a:solidFill>
              </a:rPr>
              <a:t> Geohash </a:t>
            </a:r>
            <a:r>
              <a:rPr lang="he-IL" sz="1400" dirty="0">
                <a:solidFill>
                  <a:srgbClr val="111827"/>
                </a:solidFill>
              </a:rPr>
              <a:t> וא</a:t>
            </a:r>
            <a:r>
              <a:rPr lang="en-US" sz="1400" dirty="0" err="1">
                <a:solidFill>
                  <a:srgbClr val="111827"/>
                </a:solidFill>
              </a:rPr>
              <a:t>חר</a:t>
            </a:r>
            <a:r>
              <a:rPr lang="en-US" sz="1400" dirty="0">
                <a:solidFill>
                  <a:srgbClr val="111827"/>
                </a:solidFill>
              </a:rPr>
              <a:t> </a:t>
            </a:r>
            <a:r>
              <a:rPr lang="he-IL" sz="1400" dirty="0">
                <a:solidFill>
                  <a:srgbClr val="111827"/>
                </a:solidFill>
              </a:rPr>
              <a:t>כך </a:t>
            </a:r>
            <a:r>
              <a:rPr lang="en-US" sz="1400" dirty="0">
                <a:solidFill>
                  <a:srgbClr val="111827"/>
                </a:solidFill>
              </a:rPr>
              <a:t>Haversine</a:t>
            </a:r>
            <a:r>
              <a:rPr lang="he-IL" sz="1400" dirty="0"/>
              <a:t>.</a:t>
            </a:r>
            <a:endParaRPr lang="he-IL" sz="1400" dirty="0">
              <a:solidFill>
                <a:srgbClr val="111827"/>
              </a:solidFill>
            </a:endParaRP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11827"/>
                </a:solidFill>
              </a:rPr>
              <a:t> </a:t>
            </a:r>
            <a:r>
              <a:rPr lang="en-US" sz="1400" b="1" dirty="0" err="1">
                <a:solidFill>
                  <a:srgbClr val="111827"/>
                </a:solidFill>
              </a:rPr>
              <a:t>אם</a:t>
            </a:r>
            <a:r>
              <a:rPr lang="en-US" sz="1400" b="1" dirty="0">
                <a:solidFill>
                  <a:srgbClr val="111827"/>
                </a:solidFill>
              </a:rPr>
              <a:t> </a:t>
            </a:r>
            <a:r>
              <a:rPr lang="en-US" sz="1400" b="1" dirty="0" err="1">
                <a:solidFill>
                  <a:srgbClr val="111827"/>
                </a:solidFill>
              </a:rPr>
              <a:t>נסיר</a:t>
            </a:r>
            <a:r>
              <a:rPr lang="he-IL" sz="1400" b="1" dirty="0">
                <a:solidFill>
                  <a:srgbClr val="111827"/>
                </a:solidFill>
              </a:rPr>
              <a:t>:</a:t>
            </a:r>
            <a:r>
              <a:rPr lang="en-US" sz="1400" b="1" dirty="0">
                <a:solidFill>
                  <a:srgbClr val="111827"/>
                </a:solidFill>
              </a:rPr>
              <a:t> </a:t>
            </a:r>
            <a:r>
              <a:rPr lang="he-IL" sz="1400" b="1" dirty="0">
                <a:solidFill>
                  <a:srgbClr val="111827"/>
                </a:solidFill>
              </a:rPr>
              <a:t> </a:t>
            </a:r>
            <a:r>
              <a:rPr lang="en-US" sz="1400" dirty="0" err="1">
                <a:solidFill>
                  <a:srgbClr val="111827"/>
                </a:solidFill>
              </a:rPr>
              <a:t>אין</a:t>
            </a:r>
            <a:r>
              <a:rPr lang="en-US" sz="1400" dirty="0">
                <a:solidFill>
                  <a:srgbClr val="111827"/>
                </a:solidFill>
              </a:rPr>
              <a:t> Geo-fencing </a:t>
            </a:r>
            <a:r>
              <a:rPr lang="he-IL" sz="1400" dirty="0">
                <a:solidFill>
                  <a:srgbClr val="111827"/>
                </a:solidFill>
              </a:rPr>
              <a:t> - ל</a:t>
            </a:r>
            <a:r>
              <a:rPr lang="en-US" sz="1400" dirty="0">
                <a:solidFill>
                  <a:srgbClr val="111827"/>
                </a:solidFill>
              </a:rPr>
              <a:t>א </a:t>
            </a:r>
            <a:r>
              <a:rPr lang="en-US" sz="1400" dirty="0" err="1">
                <a:solidFill>
                  <a:srgbClr val="111827"/>
                </a:solidFill>
              </a:rPr>
              <a:t>תואם</a:t>
            </a:r>
            <a:r>
              <a:rPr lang="en-US" sz="1400" dirty="0">
                <a:solidFill>
                  <a:srgbClr val="111827"/>
                </a:solidFill>
              </a:rPr>
              <a:t> </a:t>
            </a:r>
            <a:r>
              <a:rPr lang="en-US" sz="1400" dirty="0" err="1">
                <a:solidFill>
                  <a:srgbClr val="111827"/>
                </a:solidFill>
              </a:rPr>
              <a:t>מפרט</a:t>
            </a:r>
            <a:r>
              <a:rPr lang="he-IL" sz="1400" dirty="0">
                <a:solidFill>
                  <a:srgbClr val="111827"/>
                </a:solidFill>
              </a:rPr>
              <a:t>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0929" y="3073790"/>
            <a:ext cx="8335108" cy="1155310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filterByGeohashAndRadius(devices, lat, lon, radius)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prefixes = neighborPrefixes(lat, lon, 5);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candidates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.map(d =&gt; ({ ...d, distanceMeters: haversine(...) }))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.filter(d =&gt; d.distanceMeters &lt;= radius)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.sort((a,b) =&gt; a.distanceMeters - b.distanceMeters);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991B1B"/>
                </a:solidFill>
              </a:rPr>
              <a:t>קטע </a:t>
            </a:r>
            <a:r>
              <a:rPr lang="en-US" sz="2800" b="1" dirty="0" err="1">
                <a:solidFill>
                  <a:srgbClr val="991B1B"/>
                </a:solidFill>
              </a:rPr>
              <a:t>קוד</a:t>
            </a:r>
            <a:r>
              <a:rPr lang="en-US" sz="2800" b="1" dirty="0">
                <a:solidFill>
                  <a:srgbClr val="991B1B"/>
                </a:solidFill>
              </a:rPr>
              <a:t> —</a:t>
            </a:r>
            <a:r>
              <a:rPr lang="he-IL" sz="2800" b="1" dirty="0">
                <a:solidFill>
                  <a:srgbClr val="991B1B"/>
                </a:solidFill>
              </a:rPr>
              <a:t>מ</a:t>
            </a:r>
            <a:r>
              <a:rPr lang="en-US" sz="2800" b="1" dirty="0" err="1">
                <a:solidFill>
                  <a:srgbClr val="991B1B"/>
                </a:solidFill>
              </a:rPr>
              <a:t>צוקה</a:t>
            </a:r>
            <a:r>
              <a:rPr lang="he-IL" sz="2800" b="1" dirty="0">
                <a:solidFill>
                  <a:srgbClr val="991B1B"/>
                </a:solidFill>
              </a:rPr>
              <a:t> + </a:t>
            </a:r>
            <a:r>
              <a:rPr lang="en-US" sz="2800" b="1" dirty="0">
                <a:solidFill>
                  <a:srgbClr val="991B1B"/>
                </a:solidFill>
              </a:rPr>
              <a:t>Hybrid Alert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74151"/>
                </a:solidFill>
              </a:rPr>
              <a:t>simulator-server/routes/distress.js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399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111827"/>
                </a:solidFill>
              </a:rPr>
              <a:t>דירוג: </a:t>
            </a:r>
            <a:r>
              <a:rPr lang="en-US" sz="1400" dirty="0">
                <a:solidFill>
                  <a:srgbClr val="111827"/>
                </a:solidFill>
              </a:rPr>
              <a:t>ping</a:t>
            </a:r>
            <a:r>
              <a:rPr lang="he-IL" sz="1400" dirty="0">
                <a:solidFill>
                  <a:srgbClr val="111827"/>
                </a:solidFill>
              </a:rPr>
              <a:t> עדכני (60 שנ') ואז מרחק.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111827"/>
                </a:solidFill>
              </a:rPr>
              <a:t>hybridAlerts</a:t>
            </a:r>
            <a:r>
              <a:rPr lang="he-IL" sz="1400" b="1" dirty="0">
                <a:solidFill>
                  <a:srgbClr val="111827"/>
                </a:solidFill>
              </a:rPr>
              <a:t> :</a:t>
            </a:r>
            <a:r>
              <a:rPr lang="en-US" sz="1400" dirty="0" err="1">
                <a:solidFill>
                  <a:srgbClr val="111827"/>
                </a:solidFill>
              </a:rPr>
              <a:t>pushSent</a:t>
            </a:r>
            <a:r>
              <a:rPr lang="en-US" sz="1400" dirty="0">
                <a:solidFill>
                  <a:srgbClr val="111827"/>
                </a:solidFill>
              </a:rPr>
              <a:t>, </a:t>
            </a:r>
            <a:r>
              <a:rPr lang="en-US" sz="1400" dirty="0" err="1">
                <a:solidFill>
                  <a:srgbClr val="111827"/>
                </a:solidFill>
              </a:rPr>
              <a:t>loraDownlinkSent</a:t>
            </a:r>
            <a:r>
              <a:rPr lang="en-US" sz="1400" dirty="0">
                <a:solidFill>
                  <a:srgbClr val="111827"/>
                </a:solidFill>
              </a:rPr>
              <a:t>, </a:t>
            </a:r>
            <a:r>
              <a:rPr lang="en-US" sz="1400" dirty="0" err="1">
                <a:solidFill>
                  <a:srgbClr val="111827"/>
                </a:solidFill>
              </a:rPr>
              <a:t>smsSimulated</a:t>
            </a:r>
            <a:endParaRPr lang="he-IL" sz="1400" b="1" dirty="0">
              <a:solidFill>
                <a:srgbClr val="111827"/>
              </a:solidFill>
            </a:endParaRP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1400" dirty="0"/>
              <a:t>50 מכשירים </a:t>
            </a:r>
            <a:r>
              <a:rPr lang="en-US" sz="1400" dirty="0"/>
              <a:t>seed</a:t>
            </a:r>
            <a:r>
              <a:rPr lang="he-IL" sz="1400" dirty="0"/>
              <a:t>, מסלולי אופניים </a:t>
            </a:r>
            <a:r>
              <a:rPr lang="en-US" sz="1400" dirty="0"/>
              <a:t>OSRM</a:t>
            </a:r>
            <a:r>
              <a:rPr lang="he-IL" sz="1400" dirty="0"/>
              <a:t>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prioritized = nearby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.filter(d =&gt; d.hasDefibrillator)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.sort((a,b) =&gt;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(Math.abs(ageA - ageB) &gt; 60000) return ageA - ageB;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a.distanceMeters - b.distanceMeters;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991B1B"/>
                </a:solidFill>
              </a:rPr>
              <a:t>קטע קוד — JWT + Refresh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74151"/>
                </a:solidFill>
              </a:rPr>
              <a:t>server/routes/auth.js + web/src/lib/api.ts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710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Access Token — </a:t>
            </a:r>
            <a:r>
              <a:rPr lang="en-US" sz="1400" dirty="0" err="1">
                <a:solidFill>
                  <a:srgbClr val="111827"/>
                </a:solidFill>
              </a:rPr>
              <a:t>expiresIn</a:t>
            </a:r>
            <a:r>
              <a:rPr lang="en-US" sz="1400" dirty="0">
                <a:solidFill>
                  <a:srgbClr val="111827"/>
                </a:solidFill>
              </a:rPr>
              <a:t>: </a:t>
            </a:r>
            <a:r>
              <a:rPr lang="he-IL" sz="1400" dirty="0">
                <a:solidFill>
                  <a:srgbClr val="111827"/>
                </a:solidFill>
              </a:rPr>
              <a:t>‘</a:t>
            </a:r>
            <a:r>
              <a:rPr lang="en-US" sz="1400" dirty="0">
                <a:solidFill>
                  <a:srgbClr val="111827"/>
                </a:solidFill>
              </a:rPr>
              <a:t>15m’</a:t>
            </a:r>
            <a:r>
              <a:rPr lang="he-IL" sz="1400" dirty="0">
                <a:solidFill>
                  <a:srgbClr val="111827"/>
                </a:solidFill>
              </a:rPr>
              <a:t> (15 דקות) 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1400" dirty="0">
                <a:solidFill>
                  <a:srgbClr val="111827"/>
                </a:solidFill>
              </a:rPr>
              <a:t> </a:t>
            </a:r>
            <a:r>
              <a:rPr lang="en-US" sz="1400" dirty="0">
                <a:solidFill>
                  <a:srgbClr val="111827"/>
                </a:solidFill>
              </a:rPr>
              <a:t>Refresh Token — </a:t>
            </a:r>
            <a:r>
              <a:rPr lang="en-US" sz="1400" dirty="0" err="1">
                <a:solidFill>
                  <a:srgbClr val="111827"/>
                </a:solidFill>
              </a:rPr>
              <a:t>expiresIn</a:t>
            </a:r>
            <a:r>
              <a:rPr lang="en-US" sz="1400" dirty="0">
                <a:solidFill>
                  <a:srgbClr val="111827"/>
                </a:solidFill>
              </a:rPr>
              <a:t>: '7d' </a:t>
            </a:r>
            <a:r>
              <a:rPr lang="he-IL" sz="1400" dirty="0">
                <a:solidFill>
                  <a:srgbClr val="111827"/>
                </a:solidFill>
              </a:rPr>
              <a:t>ימים)</a:t>
            </a:r>
            <a:r>
              <a:rPr lang="en-US" sz="1400" dirty="0">
                <a:solidFill>
                  <a:srgbClr val="111827"/>
                </a:solidFill>
              </a:rPr>
              <a:t> 7)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11827"/>
                </a:solidFill>
              </a:rPr>
              <a:t>Bcrypt</a:t>
            </a:r>
            <a:r>
              <a:rPr lang="en-US" sz="1400" dirty="0">
                <a:solidFill>
                  <a:srgbClr val="111827"/>
                </a:solidFill>
              </a:rPr>
              <a:t> </a:t>
            </a:r>
            <a:r>
              <a:rPr lang="he-IL" sz="1400" dirty="0">
                <a:solidFill>
                  <a:srgbClr val="111827"/>
                </a:solidFill>
              </a:rPr>
              <a:t> לסיסמת אדמין - </a:t>
            </a:r>
            <a:r>
              <a:rPr lang="en-US" sz="1400" dirty="0">
                <a:solidFill>
                  <a:srgbClr val="111827"/>
                </a:solidFill>
              </a:rPr>
              <a:t>(</a:t>
            </a:r>
            <a:r>
              <a:rPr lang="en-US" sz="1400" dirty="0" err="1">
                <a:solidFill>
                  <a:srgbClr val="111827"/>
                </a:solidFill>
              </a:rPr>
              <a:t>micha</a:t>
            </a:r>
            <a:r>
              <a:rPr lang="en-US" sz="1400" dirty="0">
                <a:solidFill>
                  <a:srgbClr val="111827"/>
                </a:solidFill>
              </a:rPr>
              <a:t> / 1234)</a:t>
            </a:r>
            <a:endParaRPr lang="en-US" sz="1400" dirty="0"/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 </a:t>
            </a:r>
            <a:r>
              <a:rPr lang="en-US" sz="1400" dirty="0" err="1">
                <a:solidFill>
                  <a:srgbClr val="111827"/>
                </a:solidFill>
              </a:rPr>
              <a:t>authFetch</a:t>
            </a:r>
            <a:r>
              <a:rPr lang="he-IL" sz="1400" dirty="0">
                <a:solidFill>
                  <a:srgbClr val="111827"/>
                </a:solidFill>
              </a:rPr>
              <a:t>מרענן אוטומטית ב- 401.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accessToken = jwt.sign(payload, SECRET, { expiresIn: '15m' });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refreshToken = jwt.sign(payload, REFRESH, { expiresIn: '7d' });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api.ts: אם 401 → POST /auth/refresh → ניסיון חוזר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 err="1">
                <a:solidFill>
                  <a:srgbClr val="991B1B"/>
                </a:solidFill>
              </a:rPr>
              <a:t>קטע</a:t>
            </a:r>
            <a:r>
              <a:rPr lang="en-US" sz="2800" b="1" dirty="0">
                <a:solidFill>
                  <a:srgbClr val="991B1B"/>
                </a:solidFill>
              </a:rPr>
              <a:t> </a:t>
            </a:r>
            <a:r>
              <a:rPr lang="en-US" sz="2800" b="1" dirty="0" err="1">
                <a:solidFill>
                  <a:srgbClr val="991B1B"/>
                </a:solidFill>
              </a:rPr>
              <a:t>קוד</a:t>
            </a:r>
            <a:r>
              <a:rPr lang="he-IL" sz="2800" b="1" dirty="0">
                <a:solidFill>
                  <a:srgbClr val="991B1B"/>
                </a:solidFill>
              </a:rPr>
              <a:t> - </a:t>
            </a:r>
            <a:r>
              <a:rPr lang="en-US" sz="2800" b="1" dirty="0">
                <a:solidFill>
                  <a:srgbClr val="991B1B"/>
                </a:solidFill>
              </a:rPr>
              <a:t>The Registry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374151"/>
                </a:solidFill>
              </a:rPr>
              <a:t>simulator-server/utils/loraPingSimulator.js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599"/>
            <a:ext cx="8229600" cy="25040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Ping</a:t>
            </a:r>
            <a:r>
              <a:rPr lang="he-IL" sz="1400" dirty="0">
                <a:solidFill>
                  <a:srgbClr val="111827"/>
                </a:solidFill>
              </a:rPr>
              <a:t> שקט כל שעה – </a:t>
            </a:r>
            <a:r>
              <a:rPr lang="en-US" sz="1400" dirty="0">
                <a:solidFill>
                  <a:srgbClr val="111827"/>
                </a:solidFill>
              </a:rPr>
              <a:t>GPS</a:t>
            </a:r>
            <a:r>
              <a:rPr lang="he-IL" sz="1400" dirty="0">
                <a:solidFill>
                  <a:srgbClr val="111827"/>
                </a:solidFill>
              </a:rPr>
              <a:t> + סוללה.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1400" dirty="0">
                <a:solidFill>
                  <a:srgbClr val="111827"/>
                </a:solidFill>
              </a:rPr>
              <a:t>שליחת </a:t>
            </a:r>
            <a:r>
              <a:rPr lang="en-US" sz="1400" dirty="0">
                <a:solidFill>
                  <a:srgbClr val="111827"/>
                </a:solidFill>
              </a:rPr>
              <a:t>Push</a:t>
            </a:r>
            <a:r>
              <a:rPr lang="he-IL" sz="1400" dirty="0">
                <a:solidFill>
                  <a:srgbClr val="111827"/>
                </a:solidFill>
              </a:rPr>
              <a:t> – תחזוקה אוטומטית כשהסוללה היא פחות מ-20%.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Cooldown 24h</a:t>
            </a:r>
            <a:r>
              <a:rPr lang="he-IL" sz="1400" dirty="0">
                <a:solidFill>
                  <a:srgbClr val="111827"/>
                </a:solidFill>
              </a:rPr>
              <a:t> למניעת </a:t>
            </a:r>
            <a:r>
              <a:rPr lang="en-US" sz="1400" dirty="0">
                <a:solidFill>
                  <a:srgbClr val="111827"/>
                </a:solidFill>
              </a:rPr>
              <a:t>spam</a:t>
            </a:r>
            <a:r>
              <a:rPr lang="he-IL" sz="1400" dirty="0">
                <a:solidFill>
                  <a:srgbClr val="111827"/>
                </a:solidFill>
              </a:rPr>
              <a:t>.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he-IL" sz="1400" dirty="0">
              <a:solidFill>
                <a:srgbClr val="111827"/>
              </a:solidFill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he-IL" sz="1400" dirty="0">
              <a:solidFill>
                <a:srgbClr val="111827"/>
              </a:solidFill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131820"/>
            <a:ext cx="8229600" cy="1097280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PING_INTERVAL_MS = 60 * 60 * 1000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(batteryPercent &lt; 20) sendMaintenancePushIfNeeded(...)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991B1B"/>
                </a:solidFill>
              </a:rPr>
              <a:t>דגימות מסך להדגמה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 / — LoRa, תרשים זרימה, חלון הזהב 0–4 דק</a:t>
            </a:r>
            <a:endParaRPr lang="en-US" sz="1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 /register — הרשמה ללא סיסמה</a:t>
            </a:r>
            <a:endParaRPr lang="en-US" sz="1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 /emergency — מצוקה, Geohash, מפה, Hybrid Panel</a:t>
            </a:r>
            <a:endParaRPr lang="en-US" sz="1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 /volunteer — Push, חלון אדום, Waze</a:t>
            </a:r>
            <a:endParaRPr lang="en-US" sz="1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 /fleet — Registry, DevEUI</a:t>
            </a:r>
            <a:endParaRPr lang="en-US" sz="1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 /lora-shops — 433MHz, Meshtastic</a:t>
            </a:r>
            <a:endParaRPr lang="en-US" sz="1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 /admin — CMS, JWT (micha / 1234)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991B1B"/>
                </a:solidFill>
              </a:rPr>
              <a:t>סיכום — התאמה למפרט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4114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 2 servers  + SQL + NoSQL + JWT + רענון</a:t>
            </a:r>
            <a:endParaRPr lang="en-US" sz="1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 Registration, Fleet, Registry, Incident</a:t>
            </a:r>
            <a:endParaRPr lang="en-US" sz="1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 Hybrid Alert, Geo-fencing, Geohash (מדומה)</a:t>
            </a:r>
            <a:endParaRPr lang="en-US" sz="1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 </a:t>
            </a:r>
            <a:r>
              <a:rPr lang="en-US" sz="1400" dirty="0" err="1">
                <a:solidFill>
                  <a:srgbClr val="111827"/>
                </a:solidFill>
              </a:rPr>
              <a:t>סימולטור</a:t>
            </a:r>
            <a:r>
              <a:rPr lang="en-US" sz="1400" dirty="0">
                <a:solidFill>
                  <a:srgbClr val="111827"/>
                </a:solidFill>
              </a:rPr>
              <a:t> WEB, 50 seed, OSRM, עברית</a:t>
            </a:r>
            <a:endParaRPr lang="en-US" sz="1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 GitHub + README + ענן (Vercel + Render)</a:t>
            </a:r>
            <a:endParaRPr lang="en-US" sz="1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400" dirty="0">
                <a:solidFill>
                  <a:srgbClr val="111827"/>
                </a:solidFill>
              </a:rPr>
              <a:t>• </a:t>
            </a:r>
            <a:r>
              <a:rPr lang="en-US" sz="1400" dirty="0" err="1">
                <a:solidFill>
                  <a:srgbClr val="111827"/>
                </a:solidFill>
              </a:rPr>
              <a:t>יישום</a:t>
            </a:r>
            <a:r>
              <a:rPr lang="en-US" sz="1400" dirty="0">
                <a:solidFill>
                  <a:srgbClr val="111827"/>
                </a:solidFill>
              </a:rPr>
              <a:t> מתנדב (/volunteer)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782</Words>
  <Application>Microsoft Office PowerPoint</Application>
  <PresentationFormat>On-screen Show (16:9)</PresentationFormat>
  <Paragraphs>89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דפיברילטור בשטח — Pro Bono</dc:title>
  <dc:subject>PptxGenJS Presentation</dc:subject>
  <dc:creator>Eden Glazman</dc:creator>
  <cp:lastModifiedBy>Eden Glazman</cp:lastModifiedBy>
  <cp:revision>37</cp:revision>
  <dcterms:created xsi:type="dcterms:W3CDTF">2026-07-06T17:17:11Z</dcterms:created>
  <dcterms:modified xsi:type="dcterms:W3CDTF">2026-07-06T19:37:51Z</dcterms:modified>
</cp:coreProperties>
</file>